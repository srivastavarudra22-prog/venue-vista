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600" b="1">
                <a:solidFill>
                  <a:srgbClr val="4F46E5"/>
                </a:solidFill>
                <a:latin typeface="Segoe UI"/>
              </a:defRPr>
            </a:pPr>
            <a:r>
              <a:t>VENUEVISTA</a:t>
            </a:r>
          </a:p>
          <a:p>
            <a:pPr>
              <a:spcAft>
                <a:spcPts val="18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Smart Venue Management &amp; Event Reservation Platform</a:t>
            </a:r>
          </a:p>
          <a:p>
            <a:pPr>
              <a:spcAft>
                <a:spcPts val="36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A full-stack, dual-portal architecture connecting customers and venue hosts with streamlined reservation approvals.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Built with Spring Boot 4 (Java 21) &amp; Angular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Segoe UI"/>
              </a:defRPr>
            </a:pPr>
            <a:r>
              <a:t>INDUSTRY CHALLENGES</a:t>
            </a:r>
          </a:p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Problem in Venue &amp; Event Booking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Why traditional booking systems fail venue owners and event organizers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01.  Disorganized Venue Discovery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Customers struggle with fragmented information across social media and phone calls without upfront pricing or capacity details.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02.  Double Bookings &amp; Scheduling Conflicts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Manual booking records lead to calendar clashes, uncoordinated dates, and lost customer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03.  Zero Host Transparency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Hosts lack dedicated portals to review requests, communicate rejection reasons, or monitor venue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04.  Disconnected Event Ticketing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Venue reservations and event ticket sales are handled in isolated silos rather than an integrated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Segoe UI"/>
              </a:defRPr>
            </a:pPr>
            <a:r>
              <a:t>PRODUCT OVERVIEW</a:t>
            </a:r>
          </a:p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VenueVista Solution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An end-to-end ecosystem connecting customers and venue providers seamlessly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3291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365760" wrap="square"/>
          <a:lstStyle/>
          <a:p>
            <a:pPr algn="ctr">
              <a:spcAft>
                <a:spcPts val="1000"/>
              </a:spcAft>
              <a:defRPr sz="1000" b="1">
                <a:solidFill>
                  <a:srgbClr val="4F46E5"/>
                </a:solidFill>
              </a:defRPr>
            </a:pPr>
            <a:r>
              <a:t>PILLAR 01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Customer Portal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Explore curated venues, book dates, reserve event tickets, and view real-time booking status updates.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103120"/>
            <a:ext cx="3291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365760" wrap="square"/>
          <a:lstStyle/>
          <a:p>
            <a:pPr algn="ctr">
              <a:spcAft>
                <a:spcPts val="1000"/>
              </a:spcAft>
              <a:defRPr sz="1000" b="1">
                <a:solidFill>
                  <a:srgbClr val="4F46E5"/>
                </a:solidFill>
              </a:defRPr>
            </a:pPr>
            <a:r>
              <a:t>PILLAR 02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Provider / Host Hub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 dedicated management dashboard for venue owners to inspect requests, track revenue, and manage inventory.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103120"/>
            <a:ext cx="3291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365760" wrap="square"/>
          <a:lstStyle/>
          <a:p>
            <a:pPr algn="ctr">
              <a:spcAft>
                <a:spcPts val="1000"/>
              </a:spcAft>
              <a:defRPr sz="1000" b="1">
                <a:solidFill>
                  <a:srgbClr val="4F46E5"/>
                </a:solidFill>
              </a:defRPr>
            </a:pPr>
            <a:r>
              <a:t>PILLAR 03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Approval Lifecycle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Enables providers to accept or reject bookings with mandatory reasons displayed directly on the customer's ledger.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Segoe UI"/>
              </a:defRPr>
            </a:pPr>
            <a:r>
              <a:t>SYSTEM DESIGN</a:t>
            </a:r>
          </a:p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Technical Architecture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Clean 3-tier decoupled client-server architecture with RESTful communication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wrap="square"/>
          <a:lstStyle/>
          <a:p>
            <a:pPr algn="ctr">
              <a:spcAft>
                <a:spcPts val="200"/>
              </a:spcAft>
              <a:defRPr sz="1700" b="1">
                <a:solidFill>
                  <a:srgbClr val="0F172A"/>
                </a:solidFill>
              </a:defRPr>
            </a:pPr>
            <a:r>
              <a:t>Frontend Client</a:t>
            </a:r>
          </a:p>
          <a:p>
            <a:pPr>
              <a:spcAft>
                <a:spcPts val="1400"/>
              </a:spcAft>
              <a:defRPr sz="1100" b="1">
                <a:solidFill>
                  <a:srgbClr val="4F46E5"/>
                </a:solidFill>
              </a:defRPr>
            </a:pPr>
            <a:r>
              <a:t>Angular 21 + TypeScript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 Standalone components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 Role-based routing &amp; auth guards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 Responsive minimalist UI design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 Optimistic state updates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01168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wrap="square"/>
          <a:lstStyle/>
          <a:p>
            <a:pPr algn="ctr">
              <a:spcAft>
                <a:spcPts val="200"/>
              </a:spcAft>
              <a:defRPr sz="1700" b="1">
                <a:solidFill>
                  <a:srgbClr val="0F172A"/>
                </a:solidFill>
              </a:defRPr>
            </a:pPr>
            <a:r>
              <a:t>Backend Services</a:t>
            </a:r>
          </a:p>
          <a:p>
            <a:pPr>
              <a:spcAft>
                <a:spcPts val="1400"/>
              </a:spcAft>
              <a:defRPr sz="1100" b="1">
                <a:solidFill>
                  <a:srgbClr val="4F46E5"/>
                </a:solidFill>
              </a:defRPr>
            </a:pPr>
            <a:r>
              <a:t>Spring Boot 4 (Java 21)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 RESTful API endpoints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 Spring Data JPA &amp; Hibernate ORM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 JWT Token authentication &amp; BCrypt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 Layered Controller-Service-Repository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01168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wrap="square"/>
          <a:lstStyle/>
          <a:p>
            <a:pPr algn="ctr">
              <a:spcAft>
                <a:spcPts val="200"/>
              </a:spcAft>
              <a:defRPr sz="1700" b="1">
                <a:solidFill>
                  <a:srgbClr val="0F172A"/>
                </a:solidFill>
              </a:defRPr>
            </a:pPr>
            <a:r>
              <a:t>Data Layer</a:t>
            </a:r>
          </a:p>
          <a:p>
            <a:pPr>
              <a:spcAft>
                <a:spcPts val="1400"/>
              </a:spcAft>
              <a:defRPr sz="1100" b="1">
                <a:solidFill>
                  <a:srgbClr val="4F46E5"/>
                </a:solidFill>
              </a:defRPr>
            </a:pPr>
            <a:r>
              <a:t>Relational Persistence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 Embedded H2 (Instant development setup)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 Production ready for MySQL 8.x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 Automated schema synchronization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 Sample dataset auto-seeding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Segoe UI"/>
              </a:defRPr>
            </a:pPr>
            <a:r>
              <a:t>USER EXPERIENCE</a:t>
            </a:r>
          </a:p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Dual-Portal User Journeys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Dedicated experiences tailored for customers and venue hosts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20040" wrap="square"/>
          <a:lstStyle/>
          <a:p>
            <a:pPr algn="ctr">
              <a:spcAft>
                <a:spcPts val="200"/>
              </a:spcAft>
              <a:defRPr sz="1800" b="1">
                <a:solidFill>
                  <a:srgbClr val="0F172A"/>
                </a:solidFill>
              </a:defRPr>
            </a:pPr>
            <a:r>
              <a:t>Customer Journey</a:t>
            </a:r>
          </a:p>
          <a:p>
            <a:pPr>
              <a:spcAft>
                <a:spcPts val="1400"/>
              </a:spcAft>
              <a:defRPr sz="1200" b="1">
                <a:solidFill>
                  <a:srgbClr val="4F46E5"/>
                </a:solidFill>
              </a:defRPr>
            </a:pPr>
            <a:r>
              <a:t>Browse &amp; Book Experience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1.  Register or Login as Customer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2.  Browse venues with filters (location, price, type)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3.  Submit venue booking with date and guest count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4.  Track request in 'My Bookings' (Pending / Approved / Rejected)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5.  View host rejection explanation if declined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20040" wrap="square"/>
          <a:lstStyle/>
          <a:p>
            <a:pPr algn="ctr">
              <a:spcAft>
                <a:spcPts val="200"/>
              </a:spcAft>
              <a:defRPr sz="1800" b="1">
                <a:solidFill>
                  <a:srgbClr val="0F172A"/>
                </a:solidFill>
              </a:defRPr>
            </a:pPr>
            <a:r>
              <a:t>Provider Journey</a:t>
            </a:r>
          </a:p>
          <a:p>
            <a:pPr>
              <a:spcAft>
                <a:spcPts val="1400"/>
              </a:spcAft>
              <a:defRPr sz="1200" b="1">
                <a:solidFill>
                  <a:srgbClr val="4F46E5"/>
                </a:solidFill>
              </a:defRPr>
            </a:pPr>
            <a:r>
              <a:t>Venue Host &amp; Admin Experience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1.  Log in via dedicated Provider Portal (/provider/login)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2.  View executive KPIs (Confirmed Revenue, Pending Requests)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3.  Review pending requests with full customer details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4.  Approve request or Reject with transparent reason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5.  Manage venue inventory (add listings, delete, edit)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Segoe UI"/>
              </a:defRPr>
            </a:pPr>
            <a:r>
              <a:t>WORKFLOW LIFECYCLE</a:t>
            </a:r>
          </a:p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Reservation &amp; Approval Workflow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State transition model ensuring complete transparency between customer and 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4231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>
              <a:spcAft>
                <a:spcPts val="800"/>
              </a:spcAft>
              <a:defRPr sz="1000" b="1">
                <a:solidFill>
                  <a:srgbClr val="4F46E5"/>
                </a:solidFill>
              </a:defRPr>
            </a:pPr>
            <a:r>
              <a:t>STEP 1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1. Request Submitted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Customer selects venue, date &amp; guests. Booking created with status: PENDING.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2286000"/>
            <a:ext cx="24231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STEP 2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2. Host Notification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Request surfaces in Provider Hub with customer email, phone &amp; event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286000"/>
            <a:ext cx="24231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STEP 3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3. Host Decision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Provider chooses to Approve (CONFIRMED) or Reject (with mandatory reason).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286000"/>
            <a:ext cx="24231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>
              <a:spcAft>
                <a:spcPts val="800"/>
              </a:spcAft>
              <a:defRPr sz="1000" b="1">
                <a:solidFill>
                  <a:srgbClr val="E11D48"/>
                </a:solidFill>
              </a:defRPr>
            </a:pPr>
            <a:r>
              <a:t>STEP 4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4. Customer Notification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Customer ledger updates instantly showing approval badge or host explanation.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Segoe UI"/>
              </a:defRPr>
            </a:pPr>
            <a:r>
              <a:t>KEY CAPABILITIES</a:t>
            </a:r>
          </a:p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Core Feature Matrix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High-performance modules driving platform efficiency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Venue Catalog &amp; Filtering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Real-time search across categories (Wedding Halls, Conference Centers, Open Lawns) with capacity &amp; price tags.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01168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Event Discovery &amp; Ticketing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Integrated seat booking for tech summits, concerts, and gatherings with ticket inventory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01168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Provider Financial Analytics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Real-time aggregation of confirmed revenue and booking conversion metrics on the host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Host Rejection Reason Dialog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Modal with quick reason templates (maintenance, offline booking, capacity limit) or custom reasoning.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11480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Dual Role Route Guarding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Angular CanActivate guards preventing unauthorized access between customer and provider dashboards.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11480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Instant Demo Seeding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Zero-friction onboarding with pre-seeded venues, demo customers, and provider credentials.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Segoe UI"/>
              </a:defRPr>
            </a:pPr>
            <a:r>
              <a:t>DATABASE DESIGN</a:t>
            </a:r>
          </a:p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Entity Relationship Architecture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Structured relational schema supporting multi-tenant bookings and event ticketing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4F46E5"/>
                </a:solidFill>
              </a:defRPr>
            </a:pPr>
            <a:r>
              <a:t>ENTITY: USER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id (PK)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name, email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password (BCrypt)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phone,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01168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4F46E5"/>
                </a:solidFill>
              </a:defRPr>
            </a:pPr>
            <a:r>
              <a:t>ENTITY: VENUE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id (PK)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name, location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capacity, pricePerDay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imageUrl, available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01168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4F46E5"/>
                </a:solidFill>
              </a:defRPr>
            </a:pPr>
            <a:r>
              <a:t>ENTITY: BOOKING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id (PK)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user_id, venue_id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eventDate, guests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status, rejectionReason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4F46E5"/>
                </a:solidFill>
              </a:defRPr>
            </a:pPr>
            <a:r>
              <a:t>ENTITY: EVENT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id (PK)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venue_id (FK)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name, eventDate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ticketPrice, totalSeats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11480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4F46E5"/>
                </a:solidFill>
              </a:defRPr>
            </a:pPr>
            <a:r>
              <a:t>ENTITY: TICKET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id (PK)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event_id, seat_id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bookingDate, price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status (CONFIRMED)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11480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4F46E5"/>
                </a:solidFill>
              </a:defRPr>
            </a:pPr>
            <a:r>
              <a:t>ENTITY: PAYMENT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id (PK)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booking_id (FK)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amount, method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paymentStatus, 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Segoe UI"/>
              </a:defRPr>
            </a:pPr>
            <a:r>
              <a:t>SECURITY &amp; PERFORMANCE</a:t>
            </a:r>
          </a:p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Technical Implementation Highlights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Enterprise-grade practices implemented across frontend and backend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Stateless JWT Security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Tokens are digitally signed using HMAC-SHA256, carrying user claims and roles for tamper-proof session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BCrypt Cryptographic Hashing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User passwords are encrypted before persistence; plain text passwords are never stored or logged.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Granular Route Protection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Angular Functional Route Guards (authGuard, providerGuard) validate JWT and role entitlements before rendering.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CORS Protection &amp; Global Handling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Explicit Cross-Origin Resource Sharing configurations and unified ControllerAdvice error handling.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Segoe UI"/>
              </a:defRPr>
            </a:pPr>
            <a:r>
              <a:t>LOOKING AHEAD</a:t>
            </a:r>
          </a:p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Roadmap &amp; Conclusion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Next evolution milestones for the VenueVista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4F46E5"/>
                </a:solidFill>
              </a:defRPr>
            </a:pPr>
            <a:r>
              <a:t>MILESTONE 01: Payment Gateway Integration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Live Razorpay / Stripe checkout for real-time payment processing and refunds.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4F46E5"/>
                </a:solidFill>
              </a:defRPr>
            </a:pPr>
            <a:r>
              <a:t>MILESTONE 02: Automated Invoicing &amp; PDF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Instant downloadable booking receipts and GST tax invoices for corporate clients.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4F46E5"/>
                </a:solidFill>
              </a:defRPr>
            </a:pPr>
            <a:r>
              <a:t>MILESTONE 03: Real-Time Push Notifications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WebSocket / Email alerts when a host approves or rejects a reservation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4F46E5"/>
                </a:solidFill>
              </a:defRPr>
            </a:pPr>
            <a:r>
              <a:t>MILESTONE 04: Geospatial &amp; Map Search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Interactive map search powered by Google Maps / Leaflet for proximity-based venue discovery.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